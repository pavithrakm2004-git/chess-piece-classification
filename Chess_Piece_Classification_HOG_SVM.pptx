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A9FFB-3082-4A9D-9840-656D621AE86C}" v="3" dt="2026-05-16T08:22:25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George" userId="0457bd52c15204db" providerId="LiveId" clId="{C633C339-68EF-4C64-89DC-77424D54B11C}"/>
    <pc:docChg chg="undo custSel addSld modSld">
      <pc:chgData name="Angel George" userId="0457bd52c15204db" providerId="LiveId" clId="{C633C339-68EF-4C64-89DC-77424D54B11C}" dt="2026-05-16T08:26:44.969" v="91" actId="1076"/>
      <pc:docMkLst>
        <pc:docMk/>
      </pc:docMkLst>
      <pc:sldChg chg="modSp mod">
        <pc:chgData name="Angel George" userId="0457bd52c15204db" providerId="LiveId" clId="{C633C339-68EF-4C64-89DC-77424D54B11C}" dt="2026-05-16T08:23:22.613" v="84" actId="20577"/>
        <pc:sldMkLst>
          <pc:docMk/>
          <pc:sldMk cId="0" sldId="264"/>
        </pc:sldMkLst>
        <pc:spChg chg="mod">
          <ac:chgData name="Angel George" userId="0457bd52c15204db" providerId="LiveId" clId="{C633C339-68EF-4C64-89DC-77424D54B11C}" dt="2026-05-16T08:22:50.320" v="74" actId="1076"/>
          <ac:spMkLst>
            <pc:docMk/>
            <pc:sldMk cId="0" sldId="264"/>
            <ac:spMk id="44" creationId="{00000000-0000-0000-0000-000000000000}"/>
          </ac:spMkLst>
        </pc:spChg>
        <pc:spChg chg="mod">
          <ac:chgData name="Angel George" userId="0457bd52c15204db" providerId="LiveId" clId="{C633C339-68EF-4C64-89DC-77424D54B11C}" dt="2026-05-16T08:23:22.613" v="84" actId="20577"/>
          <ac:spMkLst>
            <pc:docMk/>
            <pc:sldMk cId="0" sldId="264"/>
            <ac:spMk id="48" creationId="{00000000-0000-0000-0000-000000000000}"/>
          </ac:spMkLst>
        </pc:spChg>
      </pc:sldChg>
      <pc:sldChg chg="addSp delSp modSp mod">
        <pc:chgData name="Angel George" userId="0457bd52c15204db" providerId="LiveId" clId="{C633C339-68EF-4C64-89DC-77424D54B11C}" dt="2026-05-16T08:26:44.969" v="91" actId="1076"/>
        <pc:sldMkLst>
          <pc:docMk/>
          <pc:sldMk cId="0" sldId="265"/>
        </pc:sldMkLst>
        <pc:spChg chg="del mod">
          <ac:chgData name="Angel George" userId="0457bd52c15204db" providerId="LiveId" clId="{C633C339-68EF-4C64-89DC-77424D54B11C}" dt="2026-05-16T08:15:23.800" v="10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4:58.451" v="1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Angel George" userId="0457bd52c15204db" providerId="LiveId" clId="{C633C339-68EF-4C64-89DC-77424D54B11C}" dt="2026-05-16T08:15:03.996" v="3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06.967" v="4" actId="478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ngel George" userId="0457bd52c15204db" providerId="LiveId" clId="{C633C339-68EF-4C64-89DC-77424D54B11C}" dt="2026-05-16T08:15:26.275" v="11" actId="6549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Angel George" userId="0457bd52c15204db" providerId="LiveId" clId="{C633C339-68EF-4C64-89DC-77424D54B11C}" dt="2026-05-16T08:15:31.013" v="13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14.364" v="6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34.994" v="14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38.212" v="15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16.533" v="7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40.409" v="16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51.734" v="17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19.056" v="8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55.180" v="18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5:58.623" v="19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6:09.168" v="21" actId="478"/>
          <ac:spMkLst>
            <pc:docMk/>
            <pc:sldMk cId="0" sldId="265"/>
            <ac:spMk id="26" creationId="{00000000-0000-0000-0000-000000000000}"/>
          </ac:spMkLst>
        </pc:spChg>
        <pc:spChg chg="del">
          <ac:chgData name="Angel George" userId="0457bd52c15204db" providerId="LiveId" clId="{C633C339-68EF-4C64-89DC-77424D54B11C}" dt="2026-05-16T08:16:05.901" v="20" actId="478"/>
          <ac:spMkLst>
            <pc:docMk/>
            <pc:sldMk cId="0" sldId="265"/>
            <ac:spMk id="27" creationId="{00000000-0000-0000-0000-000000000000}"/>
          </ac:spMkLst>
        </pc:spChg>
        <pc:spChg chg="add mod">
          <ac:chgData name="Angel George" userId="0457bd52c15204db" providerId="LiveId" clId="{C633C339-68EF-4C64-89DC-77424D54B11C}" dt="2026-05-16T08:19:34.756" v="48" actId="404"/>
          <ac:spMkLst>
            <pc:docMk/>
            <pc:sldMk cId="0" sldId="265"/>
            <ac:spMk id="30" creationId="{EAC67CD0-80A1-81D0-36AF-8F3FBD51AF3C}"/>
          </ac:spMkLst>
        </pc:spChg>
        <pc:spChg chg="add del mod">
          <ac:chgData name="Angel George" userId="0457bd52c15204db" providerId="LiveId" clId="{C633C339-68EF-4C64-89DC-77424D54B11C}" dt="2026-05-16T08:23:32.694" v="85" actId="478"/>
          <ac:spMkLst>
            <pc:docMk/>
            <pc:sldMk cId="0" sldId="265"/>
            <ac:spMk id="31" creationId="{02E8B151-820F-C932-C37A-8EE79E376116}"/>
          </ac:spMkLst>
        </pc:spChg>
        <pc:picChg chg="add del mod">
          <ac:chgData name="Angel George" userId="0457bd52c15204db" providerId="LiveId" clId="{C633C339-68EF-4C64-89DC-77424D54B11C}" dt="2026-05-16T08:26:39.210" v="89" actId="478"/>
          <ac:picMkLst>
            <pc:docMk/>
            <pc:sldMk cId="0" sldId="265"/>
            <ac:picMk id="29" creationId="{61E33150-61E1-EDA7-6F98-6412AEA76F67}"/>
          </ac:picMkLst>
        </pc:picChg>
        <pc:picChg chg="add mod">
          <ac:chgData name="Angel George" userId="0457bd52c15204db" providerId="LiveId" clId="{C633C339-68EF-4C64-89DC-77424D54B11C}" dt="2026-05-16T08:26:44.969" v="91" actId="1076"/>
          <ac:picMkLst>
            <pc:docMk/>
            <pc:sldMk cId="0" sldId="265"/>
            <ac:picMk id="33" creationId="{B21CB47C-EAC5-4FBC-6B39-A26534A6E769}"/>
          </ac:picMkLst>
        </pc:picChg>
      </pc:sldChg>
      <pc:sldChg chg="add">
        <pc:chgData name="Angel George" userId="0457bd52c15204db" providerId="LiveId" clId="{C633C339-68EF-4C64-89DC-77424D54B11C}" dt="2026-05-16T08:14:45.367" v="0" actId="2890"/>
        <pc:sldMkLst>
          <pc:docMk/>
          <pc:sldMk cId="815479058" sldId="26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814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1814"/>
                </a:solidFill>
                <a:latin typeface="Arial"/>
              </a:rPr>
              <a:t>Train vs Test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1E6B6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SVM (RBF)</c:v>
                </c:pt>
                <c:pt idx="1">
                  <c:v>Random Forest</c:v>
                </c:pt>
                <c:pt idx="2">
                  <c:v>Logistic Reg.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100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D7-4ACA-BEC6-2BE4D00FA2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C9973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SVM (RBF)</c:v>
                </c:pt>
                <c:pt idx="1">
                  <c:v>Random Forest</c:v>
                </c:pt>
                <c:pt idx="2">
                  <c:v>Logistic Reg.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</c:v>
                </c:pt>
                <c:pt idx="1">
                  <c:v>78</c:v>
                </c:pt>
                <c:pt idx="2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D7-4ACA-BEC6-2BE4D00FA2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53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DCB4E-1441-59FD-C301-A2F2740D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C3E87-72C1-9F56-D058-9A5EFAC82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97195-B5EE-C23F-9DD0-4910E9239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6598D-0766-24A9-687C-7F50BDB8B4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8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09728" cy="466344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-27432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dirty="0">
                <a:solidFill>
                  <a:srgbClr val="FFFFFF">
                    <a:alpha val="7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♔</a:t>
            </a:r>
            <a:endParaRPr lang="en-US" sz="30000" dirty="0"/>
          </a:p>
        </p:txBody>
      </p:sp>
      <p:sp>
        <p:nvSpPr>
          <p:cNvPr id="12" name="Text 10"/>
          <p:cNvSpPr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COMPUTER VISION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3258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Chess Piece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  ·  12 Classes  ·  2,400 Images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K M   ·   Angel George   ·   Yadhu Krishnan V 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0040" y="868680"/>
            <a:ext cx="5303520" cy="10058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117043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chess pieces into 12 classes (white/black × 6 piece types) from top-down board images using classical computer vision and machine learning.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1645920" cy="1051560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" y="25786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types × 2 colors)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30552" y="2011680"/>
            <a:ext cx="1645920" cy="1051560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130552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130552" y="25786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augmentation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41064" y="2011680"/>
            <a:ext cx="1645920" cy="1051560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41064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941064" y="25786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Compared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3246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3246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s4lman chess-pieces-dataset-85×85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320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Piece Classes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731520"/>
            <a:ext cx="868680" cy="749808"/>
          </a:xfrm>
          <a:prstGeom prst="rect">
            <a:avLst/>
          </a:prstGeom>
          <a:solidFill>
            <a:srgbClr val="F0D9B5"/>
          </a:solidFill>
          <a:ln w="6350">
            <a:solidFill>
              <a:srgbClr val="DDD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0" y="7315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♔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943600" y="11155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943600" y="2743200"/>
            <a:ext cx="868680" cy="749808"/>
          </a:xfrm>
          <a:prstGeom prst="rect">
            <a:avLst/>
          </a:prstGeom>
          <a:solidFill>
            <a:srgbClr val="B58863"/>
          </a:solidFill>
          <a:ln w="6350">
            <a:solidFill>
              <a:srgbClr val="A07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43600" y="27432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♚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943600" y="31272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922008" y="731520"/>
            <a:ext cx="868680" cy="749808"/>
          </a:xfrm>
          <a:prstGeom prst="rect">
            <a:avLst/>
          </a:prstGeom>
          <a:solidFill>
            <a:srgbClr val="F0D9B5"/>
          </a:solidFill>
          <a:ln w="6350">
            <a:solidFill>
              <a:srgbClr val="DDD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22008" y="7315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♕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22008" y="11155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922008" y="2743200"/>
            <a:ext cx="868680" cy="749808"/>
          </a:xfrm>
          <a:prstGeom prst="rect">
            <a:avLst/>
          </a:prstGeom>
          <a:solidFill>
            <a:srgbClr val="B58863"/>
          </a:solidFill>
          <a:ln w="6350">
            <a:solidFill>
              <a:srgbClr val="A07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22008" y="27432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922008" y="31272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900416" y="731520"/>
            <a:ext cx="868680" cy="749808"/>
          </a:xfrm>
          <a:prstGeom prst="rect">
            <a:avLst/>
          </a:prstGeom>
          <a:solidFill>
            <a:srgbClr val="F0D9B5"/>
          </a:solidFill>
          <a:ln w="6350">
            <a:solidFill>
              <a:srgbClr val="DDD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900416" y="7315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♖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900416" y="11155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900416" y="2743200"/>
            <a:ext cx="868680" cy="749808"/>
          </a:xfrm>
          <a:prstGeom prst="rect">
            <a:avLst/>
          </a:prstGeom>
          <a:solidFill>
            <a:srgbClr val="B58863"/>
          </a:solidFill>
          <a:ln w="6350">
            <a:solidFill>
              <a:srgbClr val="A07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900416" y="27432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♜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900416" y="31272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943600" y="1737360"/>
            <a:ext cx="868680" cy="749808"/>
          </a:xfrm>
          <a:prstGeom prst="rect">
            <a:avLst/>
          </a:prstGeom>
          <a:solidFill>
            <a:srgbClr val="F0D9B5"/>
          </a:solidFill>
          <a:ln w="6350">
            <a:solidFill>
              <a:srgbClr val="DDD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943600" y="17373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♗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943600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943600" y="3749040"/>
            <a:ext cx="868680" cy="749808"/>
          </a:xfrm>
          <a:prstGeom prst="rect">
            <a:avLst/>
          </a:prstGeom>
          <a:solidFill>
            <a:srgbClr val="B58863"/>
          </a:solidFill>
          <a:ln w="6350">
            <a:solidFill>
              <a:srgbClr val="A07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943600" y="37490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♝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943600" y="41330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922008" y="1737360"/>
            <a:ext cx="868680" cy="749808"/>
          </a:xfrm>
          <a:prstGeom prst="rect">
            <a:avLst/>
          </a:prstGeom>
          <a:solidFill>
            <a:srgbClr val="F0D9B5"/>
          </a:solidFill>
          <a:ln w="6350">
            <a:solidFill>
              <a:srgbClr val="DDD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922008" y="17373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♘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6922008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922008" y="3749040"/>
            <a:ext cx="868680" cy="749808"/>
          </a:xfrm>
          <a:prstGeom prst="rect">
            <a:avLst/>
          </a:prstGeom>
          <a:solidFill>
            <a:srgbClr val="B58863"/>
          </a:solidFill>
          <a:ln w="6350">
            <a:solidFill>
              <a:srgbClr val="A07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922008" y="37490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♞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922008" y="41330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900416" y="1737360"/>
            <a:ext cx="868680" cy="749808"/>
          </a:xfrm>
          <a:prstGeom prst="rect">
            <a:avLst/>
          </a:prstGeom>
          <a:solidFill>
            <a:srgbClr val="F0D9B5"/>
          </a:solidFill>
          <a:ln w="6350">
            <a:solidFill>
              <a:srgbClr val="DDD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900416" y="17373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♙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7900416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900416" y="3749040"/>
            <a:ext cx="868680" cy="749808"/>
          </a:xfrm>
          <a:prstGeom prst="rect">
            <a:avLst/>
          </a:prstGeom>
          <a:solidFill>
            <a:srgbClr val="B58863"/>
          </a:solidFill>
          <a:ln w="6350">
            <a:solidFill>
              <a:srgbClr val="A07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900416" y="37490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♟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7900416" y="41330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943600" y="5669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943600" y="25603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74320" y="868680"/>
            <a:ext cx="27889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868680"/>
            <a:ext cx="278892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♙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024128" y="9875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K 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129844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810512"/>
            <a:ext cx="2514600" cy="9144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187452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audit &amp; dataset selection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Color-based splitting (6→12 classes)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 + resize 64×64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illumination normalization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to balance classes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868680"/>
            <a:ext cx="27889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27832" y="868680"/>
            <a:ext cx="2788920" cy="73152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19272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♗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977640" y="9875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George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129844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E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E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1810512"/>
            <a:ext cx="2514600" cy="9144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64992" y="187452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features (winSize 64×64, 9 bins)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Statistical: mean, std, Sobel edges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contour area, aspect ratio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moments (7 descriptors)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(95% variance) + SelectKBest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868680"/>
            <a:ext cx="27889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81344" y="868680"/>
            <a:ext cx="2788920" cy="73152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72784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♖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931152" y="9875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Yadhu Krishnan V 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31152" y="129844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Evaluation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18504" y="1810512"/>
            <a:ext cx="2514600" cy="9144"/>
          </a:xfrm>
          <a:prstGeom prst="rect">
            <a:avLst/>
          </a:prstGeom>
          <a:solidFill>
            <a:srgbClr val="E0DAD0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18504" y="187452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kernel, probability=True)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(200 estimators)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(max_iter=1000)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F1-score analysis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Pipeline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685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K 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005840"/>
            <a:ext cx="6217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10058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1115568"/>
            <a:ext cx="9144" cy="402336"/>
          </a:xfrm>
          <a:prstGeom prst="rect">
            <a:avLst/>
          </a:prstGeom>
          <a:solidFill>
            <a:srgbClr val="DDD8CE"/>
          </a:solidFill>
          <a:ln w="1270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43000" y="10607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Audit &amp; Dataset Selection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31673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s4lman chess-pieces-dataset-85×85 · Original 6 classes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40680" y="1170432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40680" y="117043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737360"/>
            <a:ext cx="6217920" cy="621792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173736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" y="1847088"/>
            <a:ext cx="9144" cy="402336"/>
          </a:xfrm>
          <a:prstGeom prst="rect">
            <a:avLst/>
          </a:prstGeom>
          <a:solidFill>
            <a:srgbClr val="DDD8CE"/>
          </a:solidFill>
          <a:ln w="1270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43000" y="17922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Color-Based Splitting (6 → 12 Classes)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04825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detection splits White King/Queen/Rook/Bishop/Knight/Pawn from Black variants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1901952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40680" y="19019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468880"/>
            <a:ext cx="6217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" y="2578608"/>
            <a:ext cx="9144" cy="402336"/>
          </a:xfrm>
          <a:prstGeom prst="rect">
            <a:avLst/>
          </a:prstGeom>
          <a:solidFill>
            <a:srgbClr val="DDD8CE"/>
          </a:solidFill>
          <a:ln w="1270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143000" y="25237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 + Resize to 64×64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27797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image dimensions for consistent HOG window size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2633472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40680" y="26334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cv2.resize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200400"/>
            <a:ext cx="6217920" cy="621792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320040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05840" y="3310128"/>
            <a:ext cx="9144" cy="402336"/>
          </a:xfrm>
          <a:prstGeom prst="rect">
            <a:avLst/>
          </a:prstGeom>
          <a:solidFill>
            <a:srgbClr val="DDD8CE"/>
          </a:solidFill>
          <a:ln w="1270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43000" y="32552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Illumination Normalization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351129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clipLimit=2.0 · tileGridSize=8×8 · Adaptive histogram equalization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0680" y="3364992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40680" y="336499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cv2.CLAHE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3931920"/>
            <a:ext cx="6217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200" y="393192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5840" y="4041648"/>
            <a:ext cx="9144" cy="402336"/>
          </a:xfrm>
          <a:prstGeom prst="rect">
            <a:avLst/>
          </a:prstGeom>
          <a:solidFill>
            <a:srgbClr val="DDD8CE"/>
          </a:solidFill>
          <a:ln w="1270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143000" y="39867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to Balance Classes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3000" y="424281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200 images per class · 2,400 total after augmentation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40680" y="4096512"/>
            <a:ext cx="960120" cy="228600"/>
          </a:xfrm>
          <a:prstGeom prst="roundRect">
            <a:avLst>
              <a:gd name="adj" fmla="val 16000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440680" y="409651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200/class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20840" y="1005840"/>
            <a:ext cx="2148840" cy="3657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90372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PIPELINE?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03720" y="1783080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068312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lighting variability via CLAHE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2441448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068312" y="23957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prevents bias in SVM training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03720" y="3099816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068312" y="3054096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matches HOG window perfectly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03720" y="3758184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068312" y="371246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Color-split gives 12 discriminable classes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685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George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00584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1005840"/>
            <a:ext cx="4206240" cy="64008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44475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winSize = 64×64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blockSize = 16×16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orientation bins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144475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local shape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discriminative feature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20624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44475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Hu moments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Rotation-invariant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area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03720" y="144475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largest contour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4206240" cy="64008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18211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intensity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edge strength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318211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texture summary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Lighting-aware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4206240" cy="64008"/>
          </a:xfrm>
          <a:prstGeom prst="rect">
            <a:avLst/>
          </a:prstGeom>
          <a:solidFill>
            <a:srgbClr val="5A4A8A"/>
          </a:solidFill>
          <a:ln w="12700">
            <a:solidFill>
              <a:srgbClr val="5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9204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Features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18211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Brightness-based label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White/black detection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3182112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split 6→12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Feature Matrix:  HOG + Statistical + Shape features merged into a single high-dimensional vector per image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Dimensionality Reduction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685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George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051560"/>
            <a:ext cx="1371600" cy="1005840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15819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Stats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Shape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45920" y="1453896"/>
            <a:ext cx="182880" cy="18288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36776" y="138988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1051560"/>
            <a:ext cx="1554480" cy="10058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828800" y="1078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158191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variance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83280" y="1453896"/>
            <a:ext cx="182880" cy="18288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74136" y="138988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1051560"/>
            <a:ext cx="1371600" cy="1005840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6616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15819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variance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svd_solver='full'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37760" y="1453896"/>
            <a:ext cx="182880" cy="18288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28616" y="138988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1051560"/>
            <a:ext cx="1371600" cy="100584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2064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15819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500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F-score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92240" y="1453896"/>
            <a:ext cx="182880" cy="18288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83096" y="138988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1051560"/>
            <a:ext cx="1371600" cy="10058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7512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15819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SVM-ready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23317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277977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each feature to zero mean and unit variance. Essential before PCA and SVM to prevent features with large ranges from dominating.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7200" y="38404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sklearn.preprocessing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64408" y="23317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01568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— 95% Variance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01568" y="277977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reduces the high-dimensional HOG feature space. Using svd_solver='full' ensures numerical precision for the covariance matrix decomposition.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01568" y="384048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401568" y="38404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sklearn.decomposition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208776" y="23317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45936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SelectKBest (k=500)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45936" y="277977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top 500 most statistically significant features using ANOVA F-score. This removes redundant or low-discriminative features post-PCA.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45936" y="3840480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EDE8DE"/>
          </a:solidFill>
          <a:ln w="63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45936" y="38404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sklearn.feature_selection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Trained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685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Yadhu Krishnan V 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005840"/>
            <a:ext cx="5303520" cy="1874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1005840"/>
            <a:ext cx="73152" cy="18745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1078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77640" y="1078992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4A2A"/>
          </a:solidFill>
          <a:ln w="12700">
            <a:solidFill>
              <a:srgbClr val="4A8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77640" y="10789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7AC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F1-SCORE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" y="138988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Vector Machine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" y="186537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RBF  ·  Strategy: One-vs-One  ·  probability=True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SVM with RBF kernel handles non-linear decision boundaries inherent in HOG feature space. probability=True enables confidence score output for top-3 predictions.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5303520" cy="640080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3924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8036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voting on HOG features. Robust but slower inference.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813048"/>
            <a:ext cx="5303520" cy="640080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38770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1422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80360" y="39044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baseline. Efficient but struggles with complex HOG boundaries.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1005840"/>
            <a:ext cx="2926080" cy="3703320"/>
          </a:xfrm>
          <a:prstGeom prst="rect">
            <a:avLst/>
          </a:prstGeom>
          <a:solidFill>
            <a:srgbClr val="F2EDE4"/>
          </a:solidFill>
          <a:ln w="6350">
            <a:solidFill>
              <a:srgbClr val="DDD8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080760" y="1078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80760" y="1801368"/>
            <a:ext cx="118872" cy="118872"/>
          </a:xfrm>
          <a:prstGeom prst="ellipse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63640" y="17647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19842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balances precision and recall across all 12 classes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2468880"/>
            <a:ext cx="118872" cy="118872"/>
          </a:xfrm>
          <a:prstGeom prst="ellipse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63640" y="243230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26517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no single piece class dominates or underperforms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3136392"/>
            <a:ext cx="118872" cy="118872"/>
          </a:xfrm>
          <a:prstGeom prst="ellipse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63640" y="3099816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3192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 for systematic piece confusion (e.g. Bishop vs Knight)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0760" y="3803904"/>
            <a:ext cx="118872" cy="118872"/>
          </a:xfrm>
          <a:prstGeom prst="ellipse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63640" y="376732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Gap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398678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Overfitting/underfitting detection via accuracy differential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685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Yadhu Krishnan V B</a:t>
            </a:r>
            <a:endParaRPr lang="en-US" sz="10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20040" y="100584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5669280" y="1005840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669280" y="1005840"/>
            <a:ext cx="54864" cy="777240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833872" y="1069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Best Performer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33872" y="13167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weighted F1-score. RBF kernel handles non-linear HOG feature boundaries better than linear models.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0" y="1901952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669280" y="1901952"/>
            <a:ext cx="54864" cy="77724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833872" y="19659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Overfits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33872" y="22128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train accuracy vs ~78% test — classic overfitting. HOG features are high-dimensional relative to dataset size.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69280" y="2798064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669280" y="2798064"/>
            <a:ext cx="54864" cy="77724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833872" y="28620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Affects Stability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33872" y="31089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gradient features sensitive to illumination variation. CLAHE normalization significantly improves consistency.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0" y="3694176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669280" y="3694176"/>
            <a:ext cx="54864" cy="777240"/>
          </a:xfrm>
          <a:prstGeom prst="rect">
            <a:avLst/>
          </a:prstGeom>
          <a:solidFill>
            <a:srgbClr val="5A4A8A"/>
          </a:solidFill>
          <a:ln w="12700">
            <a:solidFill>
              <a:srgbClr val="5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833872" y="3758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Confidence Scores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833872" y="40050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probability estimates for top-3 candidates, surfacing ambiguous cases in the Streamlit app.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75488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75488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548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Deployment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0040" y="914400"/>
            <a:ext cx="2011680" cy="804672"/>
          </a:xfrm>
          <a:prstGeom prst="rect">
            <a:avLst/>
          </a:prstGeom>
          <a:solidFill>
            <a:srgbClr val="EBF3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914400"/>
            <a:ext cx="2011680" cy="6400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9768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7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914400"/>
            <a:ext cx="2011680" cy="804672"/>
          </a:xfrm>
          <a:prstGeom prst="rect">
            <a:avLst/>
          </a:prstGeom>
          <a:solidFill>
            <a:srgbClr val="EEE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468880" y="914400"/>
            <a:ext cx="2011680" cy="64008"/>
          </a:xfrm>
          <a:prstGeom prst="rect">
            <a:avLst/>
          </a:prstGeom>
          <a:solidFill>
            <a:srgbClr val="5C3EBC"/>
          </a:solidFill>
          <a:ln w="12700">
            <a:solidFill>
              <a:srgbClr val="5C3E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78608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3E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78608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&amp; HOG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914400"/>
            <a:ext cx="2011680" cy="804672"/>
          </a:xfrm>
          <a:prstGeom prst="rect">
            <a:avLst/>
          </a:prstGeom>
          <a:solidFill>
            <a:srgbClr val="FEF3E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17720" y="914400"/>
            <a:ext cx="2011680" cy="64008"/>
          </a:xfrm>
          <a:prstGeom prst="rect">
            <a:avLst/>
          </a:prstGeom>
          <a:solidFill>
            <a:srgbClr val="F89939"/>
          </a:solidFill>
          <a:ln w="12700">
            <a:solidFill>
              <a:srgbClr val="F899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27448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99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27448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PCA, metrics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914400"/>
            <a:ext cx="2011680" cy="804672"/>
          </a:xfrm>
          <a:prstGeom prst="rect">
            <a:avLst/>
          </a:prstGeom>
          <a:solidFill>
            <a:srgbClr val="D4ECEC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66560" y="914400"/>
            <a:ext cx="2011680" cy="64008"/>
          </a:xfrm>
          <a:prstGeom prst="rect">
            <a:avLst/>
          </a:prstGeom>
          <a:solidFill>
            <a:srgbClr val="1E6B6B"/>
          </a:solidFill>
          <a:ln w="12700">
            <a:solidFill>
              <a:srgbClr val="1E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76288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76288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1874520"/>
            <a:ext cx="2011680" cy="804672"/>
          </a:xfrm>
          <a:prstGeom prst="rect">
            <a:avLst/>
          </a:prstGeom>
          <a:solidFill>
            <a:srgbClr val="FFE8E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0040" y="1874520"/>
            <a:ext cx="2011680" cy="640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9768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9768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deployment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1874520"/>
            <a:ext cx="2011680" cy="804672"/>
          </a:xfrm>
          <a:prstGeom prst="rect">
            <a:avLst/>
          </a:prstGeom>
          <a:solidFill>
            <a:srgbClr val="E5EEF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468880" y="1874520"/>
            <a:ext cx="2011680" cy="64008"/>
          </a:xfrm>
          <a:prstGeom prst="rect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578608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5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78608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1874520"/>
            <a:ext cx="2011680" cy="804672"/>
          </a:xfrm>
          <a:prstGeom prst="rect">
            <a:avLst/>
          </a:prstGeom>
          <a:solidFill>
            <a:srgbClr val="EBF0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17720" y="1874520"/>
            <a:ext cx="2011680" cy="64008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27448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7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27448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plots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1874520"/>
            <a:ext cx="2011680" cy="804672"/>
          </a:xfrm>
          <a:prstGeom prst="rect">
            <a:avLst/>
          </a:prstGeom>
          <a:solidFill>
            <a:srgbClr val="F0DDD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766560" y="1874520"/>
            <a:ext cx="2011680" cy="64008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876288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Pickle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76288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2926080"/>
            <a:ext cx="8503920" cy="1600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48640" y="3154680"/>
            <a:ext cx="164592" cy="164592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68096" y="31272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3401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on Streamlit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8640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link: chess-</a:t>
            </a:r>
            <a:r>
              <a:rPr lang="en-US" sz="1200" dirty="0" err="1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classifier.streamlit.app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chess piece image  →  </a:t>
            </a: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predictions</a:t>
            </a:r>
            <a:r>
              <a:rPr lang="en-US" sz="100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confidence scores  →  </a:t>
            </a: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analysis insights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80960" y="3090672"/>
            <a:ext cx="1005840" cy="43891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680960" y="309067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↗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43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15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09728" cy="466344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C67CD0-80A1-81D0-36AF-8F3FBD51AF3C}"/>
              </a:ext>
            </a:extLst>
          </p:cNvPr>
          <p:cNvSpPr txBox="1"/>
          <p:nvPr/>
        </p:nvSpPr>
        <p:spPr>
          <a:xfrm>
            <a:off x="3511446" y="32293"/>
            <a:ext cx="5550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Prediction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21CB47C-EAC5-4FBC-6B39-A26534A6E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982" y="697252"/>
            <a:ext cx="4764035" cy="31441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09F8D-2CB8-E697-4265-6840582D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0AF45C-4CA2-533A-580E-39611E1673B3}"/>
              </a:ext>
            </a:extLst>
          </p:cNvPr>
          <p:cNvSpPr/>
          <p:nvPr/>
        </p:nvSpPr>
        <p:spPr>
          <a:xfrm>
            <a:off x="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681942-02B9-079E-9DB0-86F004A912B6}"/>
              </a:ext>
            </a:extLst>
          </p:cNvPr>
          <p:cNvSpPr/>
          <p:nvPr/>
        </p:nvSpPr>
        <p:spPr>
          <a:xfrm>
            <a:off x="1143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282AA1-2D53-1100-DC2D-648B720FF392}"/>
              </a:ext>
            </a:extLst>
          </p:cNvPr>
          <p:cNvSpPr/>
          <p:nvPr/>
        </p:nvSpPr>
        <p:spPr>
          <a:xfrm>
            <a:off x="2286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9E9911-5878-44B8-95EC-DC6DF839EFBD}"/>
              </a:ext>
            </a:extLst>
          </p:cNvPr>
          <p:cNvSpPr/>
          <p:nvPr/>
        </p:nvSpPr>
        <p:spPr>
          <a:xfrm>
            <a:off x="3429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0339D2-9838-15BF-0187-06B0E8A4E0D8}"/>
              </a:ext>
            </a:extLst>
          </p:cNvPr>
          <p:cNvSpPr/>
          <p:nvPr/>
        </p:nvSpPr>
        <p:spPr>
          <a:xfrm>
            <a:off x="4572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4133E9-9315-EDCA-726E-41B45D1E1B61}"/>
              </a:ext>
            </a:extLst>
          </p:cNvPr>
          <p:cNvSpPr/>
          <p:nvPr/>
        </p:nvSpPr>
        <p:spPr>
          <a:xfrm>
            <a:off x="5715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21FF5AD-78CF-6CA0-CB64-01FE45737CCA}"/>
              </a:ext>
            </a:extLst>
          </p:cNvPr>
          <p:cNvSpPr/>
          <p:nvPr/>
        </p:nvSpPr>
        <p:spPr>
          <a:xfrm>
            <a:off x="6858000" y="4663440"/>
            <a:ext cx="1143000" cy="388620"/>
          </a:xfrm>
          <a:prstGeom prst="rect">
            <a:avLst/>
          </a:prstGeom>
          <a:solidFill>
            <a:srgbClr val="B58863"/>
          </a:solidFill>
          <a:ln w="12700">
            <a:solidFill>
              <a:srgbClr val="B588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DDEC124-0B29-1DA1-20AE-5C6EBCE582E7}"/>
              </a:ext>
            </a:extLst>
          </p:cNvPr>
          <p:cNvSpPr/>
          <p:nvPr/>
        </p:nvSpPr>
        <p:spPr>
          <a:xfrm>
            <a:off x="8001000" y="4663440"/>
            <a:ext cx="1143000" cy="388620"/>
          </a:xfrm>
          <a:prstGeom prst="rect">
            <a:avLst/>
          </a:prstGeom>
          <a:solidFill>
            <a:srgbClr val="F0D9B5"/>
          </a:solidFill>
          <a:ln w="12700">
            <a:solidFill>
              <a:srgbClr val="F0D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134C9B2-8ED6-9ADB-7DE8-782145DDE50D}"/>
              </a:ext>
            </a:extLst>
          </p:cNvPr>
          <p:cNvSpPr/>
          <p:nvPr/>
        </p:nvSpPr>
        <p:spPr>
          <a:xfrm>
            <a:off x="0" y="0"/>
            <a:ext cx="109728" cy="466344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65494DF-3693-3A6C-46E5-8D9A802A2E36}"/>
              </a:ext>
            </a:extLst>
          </p:cNvPr>
          <p:cNvSpPr/>
          <p:nvPr/>
        </p:nvSpPr>
        <p:spPr>
          <a:xfrm>
            <a:off x="0" y="25603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kern="0" spc="800" dirty="0">
                <a:solidFill>
                  <a:srgbClr val="FFFFFF">
                    <a:alpha val="6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♔ ♕ ♖ ♗ ♘ ♙</a:t>
            </a:r>
            <a:endParaRPr lang="en-US" sz="7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F72BA86-27F8-B278-D022-83A5514F996B}"/>
              </a:ext>
            </a:extLst>
          </p:cNvPr>
          <p:cNvSpPr/>
          <p:nvPr/>
        </p:nvSpPr>
        <p:spPr>
          <a:xfrm>
            <a:off x="54864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58C5E7-407F-7360-73AA-F3B655A196B2}"/>
              </a:ext>
            </a:extLst>
          </p:cNvPr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Chess Piece Classification</a:t>
            </a:r>
            <a:endParaRPr lang="en-US" sz="4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HOG + SVM</a:t>
            </a:r>
            <a:endParaRPr lang="en-US" sz="4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4759EE0-8C1C-F3E0-CE16-88A701D2A382}"/>
              </a:ext>
            </a:extLst>
          </p:cNvPr>
          <p:cNvSpPr/>
          <p:nvPr/>
        </p:nvSpPr>
        <p:spPr>
          <a:xfrm>
            <a:off x="731520" y="2743200"/>
            <a:ext cx="1645920" cy="868680"/>
          </a:xfrm>
          <a:prstGeom prst="rect">
            <a:avLst/>
          </a:prstGeom>
          <a:solidFill>
            <a:srgbClr val="2A2620"/>
          </a:solidFill>
          <a:ln w="12700">
            <a:solidFill>
              <a:srgbClr val="3A36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023445-98AC-9D14-08C2-CE972AC5EF52}"/>
              </a:ext>
            </a:extLst>
          </p:cNvPr>
          <p:cNvSpPr/>
          <p:nvPr/>
        </p:nvSpPr>
        <p:spPr>
          <a:xfrm>
            <a:off x="731520" y="2788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459533-244A-EE52-65D2-DEB6E4FC2A6D}"/>
              </a:ext>
            </a:extLst>
          </p:cNvPr>
          <p:cNvSpPr/>
          <p:nvPr/>
        </p:nvSpPr>
        <p:spPr>
          <a:xfrm>
            <a:off x="731520" y="3273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6C52110-053F-FE6E-E44A-E7832C29B181}"/>
              </a:ext>
            </a:extLst>
          </p:cNvPr>
          <p:cNvSpPr/>
          <p:nvPr/>
        </p:nvSpPr>
        <p:spPr>
          <a:xfrm>
            <a:off x="2743200" y="2743200"/>
            <a:ext cx="1645920" cy="868680"/>
          </a:xfrm>
          <a:prstGeom prst="rect">
            <a:avLst/>
          </a:prstGeom>
          <a:solidFill>
            <a:srgbClr val="2A2620"/>
          </a:solidFill>
          <a:ln w="12700">
            <a:solidFill>
              <a:srgbClr val="3A36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C0A4597-2CE9-B50D-7971-B3BE9031C060}"/>
              </a:ext>
            </a:extLst>
          </p:cNvPr>
          <p:cNvSpPr/>
          <p:nvPr/>
        </p:nvSpPr>
        <p:spPr>
          <a:xfrm>
            <a:off x="2743200" y="2788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2,400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0B45E1C-34C4-C903-0EC0-1443D4AD8E20}"/>
              </a:ext>
            </a:extLst>
          </p:cNvPr>
          <p:cNvSpPr/>
          <p:nvPr/>
        </p:nvSpPr>
        <p:spPr>
          <a:xfrm>
            <a:off x="2743200" y="3273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8134AC5-AB9F-6E70-3CF0-0A77A0ADD6B8}"/>
              </a:ext>
            </a:extLst>
          </p:cNvPr>
          <p:cNvSpPr/>
          <p:nvPr/>
        </p:nvSpPr>
        <p:spPr>
          <a:xfrm>
            <a:off x="4754880" y="2743200"/>
            <a:ext cx="1645920" cy="868680"/>
          </a:xfrm>
          <a:prstGeom prst="rect">
            <a:avLst/>
          </a:prstGeom>
          <a:solidFill>
            <a:srgbClr val="2A2620"/>
          </a:solidFill>
          <a:ln w="12700">
            <a:solidFill>
              <a:srgbClr val="3A36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C11DC1-FF63-1D3D-F047-C8EA12F4F813}"/>
              </a:ext>
            </a:extLst>
          </p:cNvPr>
          <p:cNvSpPr/>
          <p:nvPr/>
        </p:nvSpPr>
        <p:spPr>
          <a:xfrm>
            <a:off x="4754880" y="2788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AD218B1-F3E7-AD39-A80A-37E1C710CC5D}"/>
              </a:ext>
            </a:extLst>
          </p:cNvPr>
          <p:cNvSpPr/>
          <p:nvPr/>
        </p:nvSpPr>
        <p:spPr>
          <a:xfrm>
            <a:off x="4754880" y="3273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B060633-5B60-B7D2-35C5-26631E475B73}"/>
              </a:ext>
            </a:extLst>
          </p:cNvPr>
          <p:cNvSpPr/>
          <p:nvPr/>
        </p:nvSpPr>
        <p:spPr>
          <a:xfrm>
            <a:off x="6766560" y="2743200"/>
            <a:ext cx="1645920" cy="868680"/>
          </a:xfrm>
          <a:prstGeom prst="rect">
            <a:avLst/>
          </a:prstGeom>
          <a:solidFill>
            <a:srgbClr val="2A2620"/>
          </a:solidFill>
          <a:ln w="12700">
            <a:solidFill>
              <a:srgbClr val="3A36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C861E88-382B-0AFE-C364-3BBEF2DD4E63}"/>
              </a:ext>
            </a:extLst>
          </p:cNvPr>
          <p:cNvSpPr/>
          <p:nvPr/>
        </p:nvSpPr>
        <p:spPr>
          <a:xfrm>
            <a:off x="6766560" y="2788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2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03A0FEC-7CD0-C6B0-775B-A09189DA219E}"/>
              </a:ext>
            </a:extLst>
          </p:cNvPr>
          <p:cNvSpPr/>
          <p:nvPr/>
        </p:nvSpPr>
        <p:spPr>
          <a:xfrm>
            <a:off x="6766560" y="3273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030815B-FFBA-80E1-1BE0-FFCF19FAF74D}"/>
              </a:ext>
            </a:extLst>
          </p:cNvPr>
          <p:cNvSpPr/>
          <p:nvPr/>
        </p:nvSpPr>
        <p:spPr>
          <a:xfrm>
            <a:off x="548640" y="37490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K M  ·  Angel George  ·  Yadhu Krishnan V B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2079ABC-A0EB-A201-D0E3-1F6301A6299B}"/>
              </a:ext>
            </a:extLst>
          </p:cNvPr>
          <p:cNvSpPr/>
          <p:nvPr/>
        </p:nvSpPr>
        <p:spPr>
          <a:xfrm>
            <a:off x="548640" y="40965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chess-classifier.streamlit.app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15479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929</Words>
  <Application>Microsoft Office PowerPoint</Application>
  <PresentationFormat>On-screen Show (16:9)</PresentationFormat>
  <Paragraphs>246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Piece Classification using HOG + SVM</dc:title>
  <dc:subject>PptxGenJS Presentation</dc:subject>
  <dc:creator>PptxGenJS</dc:creator>
  <cp:lastModifiedBy>Angel George</cp:lastModifiedBy>
  <cp:revision>1</cp:revision>
  <dcterms:created xsi:type="dcterms:W3CDTF">2026-05-16T07:00:56Z</dcterms:created>
  <dcterms:modified xsi:type="dcterms:W3CDTF">2026-05-16T08:26:47Z</dcterms:modified>
</cp:coreProperties>
</file>